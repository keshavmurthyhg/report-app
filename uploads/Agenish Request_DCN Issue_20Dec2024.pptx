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1" r:id="rId2"/>
  </p:sldMasterIdLst>
  <p:sldIdLst>
    <p:sldId id="5870" r:id="rId3"/>
    <p:sldId id="5902" r:id="rId4"/>
    <p:sldId id="5898" r:id="rId5"/>
    <p:sldId id="5901" r:id="rId6"/>
    <p:sldId id="5897" r:id="rId7"/>
    <p:sldId id="590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B7FDA-004E-429D-97A0-9E5067ECA743}" v="5" dt="2024-12-20T20:34:29.8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shavamurthy Hg (Consultant)" userId="2374e2b4-d0b6-4c3b-824f-59899e600d23" providerId="ADAL" clId="{04FB7FDA-004E-429D-97A0-9E5067ECA743}"/>
    <pc:docChg chg="custSel delSld modSld">
      <pc:chgData name="Keshavamurthy Hg (Consultant)" userId="2374e2b4-d0b6-4c3b-824f-59899e600d23" providerId="ADAL" clId="{04FB7FDA-004E-429D-97A0-9E5067ECA743}" dt="2024-12-20T20:39:01.513" v="14" actId="478"/>
      <pc:docMkLst>
        <pc:docMk/>
      </pc:docMkLst>
      <pc:sldChg chg="modSp mod">
        <pc:chgData name="Keshavamurthy Hg (Consultant)" userId="2374e2b4-d0b6-4c3b-824f-59899e600d23" providerId="ADAL" clId="{04FB7FDA-004E-429D-97A0-9E5067ECA743}" dt="2024-12-20T20:17:07.453" v="0" actId="313"/>
        <pc:sldMkLst>
          <pc:docMk/>
          <pc:sldMk cId="69794539" sldId="5870"/>
        </pc:sldMkLst>
        <pc:spChg chg="mod">
          <ac:chgData name="Keshavamurthy Hg (Consultant)" userId="2374e2b4-d0b6-4c3b-824f-59899e600d23" providerId="ADAL" clId="{04FB7FDA-004E-429D-97A0-9E5067ECA743}" dt="2024-12-20T20:17:07.453" v="0" actId="313"/>
          <ac:spMkLst>
            <pc:docMk/>
            <pc:sldMk cId="69794539" sldId="5870"/>
            <ac:spMk id="2" creationId="{2A60B894-8D87-BB15-69F7-157832BF7939}"/>
          </ac:spMkLst>
        </pc:spChg>
      </pc:sldChg>
      <pc:sldChg chg="modSp del mod">
        <pc:chgData name="Keshavamurthy Hg (Consultant)" userId="2374e2b4-d0b6-4c3b-824f-59899e600d23" providerId="ADAL" clId="{04FB7FDA-004E-429D-97A0-9E5067ECA743}" dt="2024-12-20T20:32:27.346" v="5" actId="1035"/>
        <pc:sldMkLst>
          <pc:docMk/>
          <pc:sldMk cId="3294626522" sldId="5897"/>
        </pc:sldMkLst>
        <pc:spChg chg="mod">
          <ac:chgData name="Keshavamurthy Hg (Consultant)" userId="2374e2b4-d0b6-4c3b-824f-59899e600d23" providerId="ADAL" clId="{04FB7FDA-004E-429D-97A0-9E5067ECA743}" dt="2024-12-20T20:32:27.346" v="5" actId="1035"/>
          <ac:spMkLst>
            <pc:docMk/>
            <pc:sldMk cId="3294626522" sldId="5897"/>
            <ac:spMk id="8" creationId="{F2FAC97F-97DD-9CE4-BE73-1C0FA33050B5}"/>
          </ac:spMkLst>
        </pc:spChg>
      </pc:sldChg>
      <pc:sldChg chg="modSp del mod">
        <pc:chgData name="Keshavamurthy Hg (Consultant)" userId="2374e2b4-d0b6-4c3b-824f-59899e600d23" providerId="ADAL" clId="{04FB7FDA-004E-429D-97A0-9E5067ECA743}" dt="2024-12-20T20:32:18.058" v="3" actId="1035"/>
        <pc:sldMkLst>
          <pc:docMk/>
          <pc:sldMk cId="2992492856" sldId="5898"/>
        </pc:sldMkLst>
        <pc:spChg chg="mod">
          <ac:chgData name="Keshavamurthy Hg (Consultant)" userId="2374e2b4-d0b6-4c3b-824f-59899e600d23" providerId="ADAL" clId="{04FB7FDA-004E-429D-97A0-9E5067ECA743}" dt="2024-12-20T20:32:18.058" v="3" actId="1035"/>
          <ac:spMkLst>
            <pc:docMk/>
            <pc:sldMk cId="2992492856" sldId="5898"/>
            <ac:spMk id="8" creationId="{30B6D02E-5133-D772-CCE4-4C25EFB45651}"/>
          </ac:spMkLst>
        </pc:spChg>
      </pc:sldChg>
      <pc:sldChg chg="del">
        <pc:chgData name="Keshavamurthy Hg (Consultant)" userId="2374e2b4-d0b6-4c3b-824f-59899e600d23" providerId="ADAL" clId="{04FB7FDA-004E-429D-97A0-9E5067ECA743}" dt="2024-12-20T20:31:53.147" v="1" actId="47"/>
        <pc:sldMkLst>
          <pc:docMk/>
          <pc:sldMk cId="2696321235" sldId="5900"/>
        </pc:sldMkLst>
      </pc:sldChg>
      <pc:sldChg chg="addSp delSp modSp del mod">
        <pc:chgData name="Keshavamurthy Hg (Consultant)" userId="2374e2b4-d0b6-4c3b-824f-59899e600d23" providerId="ADAL" clId="{04FB7FDA-004E-429D-97A0-9E5067ECA743}" dt="2024-12-20T20:39:01.513" v="14" actId="478"/>
        <pc:sldMkLst>
          <pc:docMk/>
          <pc:sldMk cId="1350339994" sldId="5901"/>
        </pc:sldMkLst>
        <pc:picChg chg="mod">
          <ac:chgData name="Keshavamurthy Hg (Consultant)" userId="2374e2b4-d0b6-4c3b-824f-59899e600d23" providerId="ADAL" clId="{04FB7FDA-004E-429D-97A0-9E5067ECA743}" dt="2024-12-20T20:32:48.368" v="7" actId="14100"/>
          <ac:picMkLst>
            <pc:docMk/>
            <pc:sldMk cId="1350339994" sldId="5901"/>
            <ac:picMk id="6" creationId="{8AEFA3A7-34CA-8A41-82C6-7A687FCE2590}"/>
          </ac:picMkLst>
        </pc:picChg>
        <pc:picChg chg="add del mod">
          <ac:chgData name="Keshavamurthy Hg (Consultant)" userId="2374e2b4-d0b6-4c3b-824f-59899e600d23" providerId="ADAL" clId="{04FB7FDA-004E-429D-97A0-9E5067ECA743}" dt="2024-12-20T20:39:01.513" v="14" actId="478"/>
          <ac:picMkLst>
            <pc:docMk/>
            <pc:sldMk cId="1350339994" sldId="5901"/>
            <ac:picMk id="7" creationId="{7731ED73-F5EE-D60B-746E-8057DE4B57A9}"/>
          </ac:picMkLst>
        </pc:picChg>
      </pc:sldChg>
      <pc:sldMasterChg chg="delSldLayout">
        <pc:chgData name="Keshavamurthy Hg (Consultant)" userId="2374e2b4-d0b6-4c3b-824f-59899e600d23" providerId="ADAL" clId="{04FB7FDA-004E-429D-97A0-9E5067ECA743}" dt="2024-12-20T20:31:53.147" v="1" actId="47"/>
        <pc:sldMasterMkLst>
          <pc:docMk/>
          <pc:sldMasterMk cId="2915571901" sldId="2147483660"/>
        </pc:sldMasterMkLst>
        <pc:sldLayoutChg chg="del">
          <pc:chgData name="Keshavamurthy Hg (Consultant)" userId="2374e2b4-d0b6-4c3b-824f-59899e600d23" providerId="ADAL" clId="{04FB7FDA-004E-429D-97A0-9E5067ECA743}" dt="2024-12-20T20:31:53.147" v="1" actId="47"/>
          <pc:sldLayoutMkLst>
            <pc:docMk/>
            <pc:sldMasterMk cId="2915571901" sldId="2147483660"/>
            <pc:sldLayoutMk cId="579545974" sldId="214748367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526983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1273986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794267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8980786-16C6-4C8B-8F40-5202B591853E}" type="datetimeFigureOut">
              <a:rPr lang="en-IN" smtClean="0"/>
              <a:t>21-12-2024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1570619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980786-16C6-4C8B-8F40-5202B591853E}" type="datetimeFigureOut">
              <a:rPr lang="en-IN" smtClean="0"/>
              <a:t>21-12-2024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205875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8980786-16C6-4C8B-8F40-5202B591853E}" type="datetimeFigureOut">
              <a:rPr lang="en-IN" smtClean="0"/>
              <a:t>21-12-2024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1446487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980786-16C6-4C8B-8F40-5202B591853E}" type="datetimeFigureOut">
              <a:rPr lang="en-IN" smtClean="0"/>
              <a:t>21-12-2024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4083952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980786-16C6-4C8B-8F40-5202B591853E}" type="datetimeFigureOut">
              <a:rPr lang="en-IN" smtClean="0"/>
              <a:t>21-12-2024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2812358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5546B5-7E08-4654-B1BD-434BE713C5BC}" type="slidenum">
              <a:rPr lang="en-IN" smtClean="0"/>
              <a:t>‹#›</a:t>
            </a:fld>
            <a:endParaRPr lang="en-IN"/>
          </a:p>
        </p:txBody>
      </p:sp>
      <p:sp>
        <p:nvSpPr>
          <p:cNvPr id="5" name="Date Placeholder 4"/>
          <p:cNvSpPr>
            <a:spLocks noGrp="1"/>
          </p:cNvSpPr>
          <p:nvPr>
            <p:ph type="dt" sz="half" idx="10"/>
          </p:nvPr>
        </p:nvSpPr>
        <p:spPr/>
        <p:txBody>
          <a:bodyPr/>
          <a:lstStyle/>
          <a:p>
            <a:fld id="{B8980786-16C6-4C8B-8F40-5202B591853E}" type="datetimeFigureOut">
              <a:rPr lang="en-IN" smtClean="0"/>
              <a:t>21-12-2024</a:t>
            </a:fld>
            <a:endParaRPr lang="en-IN"/>
          </a:p>
        </p:txBody>
      </p:sp>
    </p:spTree>
    <p:extLst>
      <p:ext uri="{BB962C8B-B14F-4D97-AF65-F5344CB8AC3E}">
        <p14:creationId xmlns:p14="http://schemas.microsoft.com/office/powerpoint/2010/main" val="4103490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2334409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24914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4095640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52897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0919029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063709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980786-16C6-4C8B-8F40-5202B591853E}" type="datetimeFigureOut">
              <a:rPr lang="en-IN" smtClean="0"/>
              <a:t>21-12-2024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1706467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1 Intro – Black text light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DBE988F-1BF4-472B-8755-57EAF869555F}"/>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light background picture or leave for white]</a:t>
            </a:r>
          </a:p>
        </p:txBody>
      </p:sp>
      <p:sp>
        <p:nvSpPr>
          <p:cNvPr id="15" name="Rectangle 14">
            <a:extLst>
              <a:ext uri="{FF2B5EF4-FFF2-40B4-BE49-F238E27FC236}">
                <a16:creationId xmlns:a16="http://schemas.microsoft.com/office/drawing/2014/main" id="{93CBD83D-FC01-4B5C-B1AF-BB19331DE3D2}"/>
              </a:ext>
            </a:extLst>
          </p:cNvPr>
          <p:cNvSpPr>
            <a:spLocks/>
          </p:cNvSpPr>
          <p:nvPr userDrawn="1"/>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lvl1pPr>
          </a:lstStyle>
          <a:p>
            <a:fld id="{B7D91282-FF3B-4016-8B1B-F6189EFA3DE0}" type="datetime1">
              <a:rPr lang="sv-SE" smtClean="0"/>
              <a:t>2024-12-21</a:t>
            </a:fld>
            <a:endParaRPr lang="en-US"/>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bIns="0" anchor="b" anchorCtr="0"/>
          <a:lstStyle>
            <a:lvl1pPr algn="ctr">
              <a:lnSpc>
                <a:spcPct val="80000"/>
              </a:lnSpc>
              <a:defRPr sz="5400" b="0" i="0" spc="317" baseline="0">
                <a:solidFill>
                  <a:schemeClr val="tx1"/>
                </a:solidFill>
                <a:latin typeface="Volvo Broad Pro" panose="02000606020000020004"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latin typeface="+mj-lt"/>
                <a:ea typeface="Volvo Broad Pro" panose="02000606020000020004" pitchFamily="50" charset="0"/>
                <a:cs typeface="+mn-cs"/>
              </a:defRPr>
            </a:lvl1pPr>
          </a:lstStyle>
          <a:p>
            <a:pPr lvl="0"/>
            <a:r>
              <a:rPr lang="en-US" noProof="0"/>
              <a:t>Insert sub headline</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5" name="Footer Placeholder 4">
            <a:extLst>
              <a:ext uri="{FF2B5EF4-FFF2-40B4-BE49-F238E27FC236}">
                <a16:creationId xmlns:a16="http://schemas.microsoft.com/office/drawing/2014/main" id="{593539FA-75E5-47C4-A176-BCA731EF1FC8}"/>
              </a:ext>
            </a:extLst>
          </p:cNvPr>
          <p:cNvSpPr>
            <a:spLocks noGrp="1"/>
          </p:cNvSpPr>
          <p:nvPr>
            <p:ph type="ftr" sz="quarter" idx="23"/>
          </p:nvPr>
        </p:nvSpPr>
        <p:spPr>
          <a:xfrm>
            <a:off x="766764" y="6130859"/>
            <a:ext cx="10658474" cy="164442"/>
          </a:xfrm>
        </p:spPr>
        <p:txBody>
          <a:bodyPr anchor="ctr" anchorCtr="0"/>
          <a:lstStyle>
            <a:lvl1pPr algn="ctr">
              <a:defRPr sz="1000">
                <a:solidFill>
                  <a:schemeClr val="tx1"/>
                </a:solidFill>
              </a:defRPr>
            </a:lvl1pPr>
          </a:lstStyle>
          <a:p>
            <a:r>
              <a:rPr lang="en-US"/>
              <a:t>Department name | Document name/ Issuer | Classification</a:t>
            </a:r>
          </a:p>
        </p:txBody>
      </p:sp>
      <p:sp>
        <p:nvSpPr>
          <p:cNvPr id="13" name="Entity">
            <a:extLst>
              <a:ext uri="{FF2B5EF4-FFF2-40B4-BE49-F238E27FC236}">
                <a16:creationId xmlns:a16="http://schemas.microsoft.com/office/drawing/2014/main" id="{8607A533-DD8B-418B-91AC-B4CFEE0664AD}"/>
              </a:ext>
            </a:extLst>
          </p:cNvPr>
          <p:cNvSpPr>
            <a:spLocks noGrp="1"/>
          </p:cNvSpPr>
          <p:nvPr>
            <p:ph type="body" sz="quarter" idx="24" hasCustomPrompt="1"/>
          </p:nvPr>
        </p:nvSpPr>
        <p:spPr>
          <a:xfrm>
            <a:off x="5060816" y="5887220"/>
            <a:ext cx="2070368" cy="216429"/>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38905367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1 Content - Title and bullet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944000"/>
            <a:ext cx="6562725" cy="40773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05EE019E-7143-4DDC-88F7-BF471409BD88}" type="datetime1">
              <a:rPr lang="sv-SE" smtClean="0"/>
              <a:t>2024-12-21</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Department name | Document name/ 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8" name="Logotype">
            <a:extLst>
              <a:ext uri="{FF2B5EF4-FFF2-40B4-BE49-F238E27FC236}">
                <a16:creationId xmlns:a16="http://schemas.microsoft.com/office/drawing/2014/main" id="{1BB363F6-F9B6-4408-8667-1272529FBDC4}"/>
              </a:ext>
            </a:extLst>
          </p:cNvPr>
          <p:cNvSpPr>
            <a:spLocks noGrp="1" noChangeAspect="1"/>
          </p:cNvSpPr>
          <p:nvPr>
            <p:ph type="body" sz="quarter" idx="16" hasCustomPrompt="1"/>
          </p:nvPr>
        </p:nvSpPr>
        <p:spPr>
          <a:xfrm>
            <a:off x="287927"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265014341"/>
      </p:ext>
    </p:extLst>
  </p:cSld>
  <p:clrMapOvr>
    <a:masterClrMapping/>
  </p:clrMapOvr>
  <p:extLst>
    <p:ext uri="{DCECCB84-F9BA-43D5-87BE-67443E8EF086}">
      <p15:sldGuideLst xmlns:p15="http://schemas.microsoft.com/office/powerpoint/2012/main">
        <p15:guide id="1" orient="horz" pos="379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5 Content - Title, text with large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1961186"/>
            <a:ext cx="3419999" cy="853929"/>
          </a:xfrm>
        </p:spPr>
        <p:txBody>
          <a:bodyPr wrap="square" bIns="0" anchor="b" anchorCtr="0"/>
          <a:lstStyle>
            <a:lvl1pPr>
              <a:defRPr/>
            </a:lvl1pPr>
          </a:lstStyle>
          <a:p>
            <a:r>
              <a:rPr lang="en-US"/>
              <a:t>Insert headline</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4440238"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2916001"/>
            <a:ext cx="3027923"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de-DE"/>
              <a:t>2023-03-07</a:t>
            </a:r>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Digital &amp;IT </a:t>
            </a:r>
            <a:r>
              <a:rPr lang="en-US" err="1"/>
              <a:t>Konz</a:t>
            </a:r>
            <a:r>
              <a:rPr lang="en-US"/>
              <a:t> | Published PDF of drawing 14693192 is not ok/Thomas Endres | Classification: internal </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Logotype">
            <a:extLst>
              <a:ext uri="{FF2B5EF4-FFF2-40B4-BE49-F238E27FC236}">
                <a16:creationId xmlns:a16="http://schemas.microsoft.com/office/drawing/2014/main" id="{C7F525CB-9B53-4A60-8584-0E2E8489653F}"/>
              </a:ext>
            </a:extLst>
          </p:cNvPr>
          <p:cNvSpPr>
            <a:spLocks noGrp="1" noChangeAspect="1"/>
          </p:cNvSpPr>
          <p:nvPr>
            <p:ph type="body" sz="quarter" idx="16" hasCustomPrompt="1"/>
          </p:nvPr>
        </p:nvSpPr>
        <p:spPr>
          <a:xfrm>
            <a:off x="287927"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464782615"/>
      </p:ext>
    </p:extLst>
  </p:cSld>
  <p:clrMapOvr>
    <a:masterClrMapping/>
  </p:clrMapOvr>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24637749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21206969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0708114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8980786-16C6-4C8B-8F40-5202B591853E}" type="datetimeFigureOut">
              <a:rPr lang="en-IN" smtClean="0"/>
              <a:t>19-12-2024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16067947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980786-16C6-4C8B-8F40-5202B591853E}" type="datetimeFigureOut">
              <a:rPr lang="en-IN" smtClean="0"/>
              <a:t>19-12-2024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16224064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8980786-16C6-4C8B-8F40-5202B591853E}" type="datetimeFigureOut">
              <a:rPr lang="en-IN" smtClean="0"/>
              <a:t>19-12-2024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217139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980786-16C6-4C8B-8F40-5202B591853E}" type="datetimeFigureOut">
              <a:rPr lang="en-IN" smtClean="0"/>
              <a:t>19-12-2024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0957717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980786-16C6-4C8B-8F40-5202B591853E}" type="datetimeFigureOut">
              <a:rPr lang="en-IN" smtClean="0"/>
              <a:t>19-12-2024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6184549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5546B5-7E08-4654-B1BD-434BE713C5BC}" type="slidenum">
              <a:rPr lang="en-IN" smtClean="0"/>
              <a:t>‹#›</a:t>
            </a:fld>
            <a:endParaRPr lang="en-IN"/>
          </a:p>
        </p:txBody>
      </p:sp>
      <p:sp>
        <p:nvSpPr>
          <p:cNvPr id="5" name="Date Placeholder 4"/>
          <p:cNvSpPr>
            <a:spLocks noGrp="1"/>
          </p:cNvSpPr>
          <p:nvPr>
            <p:ph type="dt" sz="half" idx="10"/>
          </p:nvPr>
        </p:nvSpPr>
        <p:spPr/>
        <p:txBody>
          <a:bodyPr/>
          <a:lstStyle/>
          <a:p>
            <a:fld id="{B8980786-16C6-4C8B-8F40-5202B591853E}" type="datetimeFigureOut">
              <a:rPr lang="en-IN" smtClean="0"/>
              <a:t>19-12-2024</a:t>
            </a:fld>
            <a:endParaRPr lang="en-IN"/>
          </a:p>
        </p:txBody>
      </p:sp>
    </p:spTree>
    <p:extLst>
      <p:ext uri="{BB962C8B-B14F-4D97-AF65-F5344CB8AC3E}">
        <p14:creationId xmlns:p14="http://schemas.microsoft.com/office/powerpoint/2010/main" val="16460961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695251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5280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36542554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680215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1801985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23137504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980786-16C6-4C8B-8F40-5202B591853E}" type="datetimeFigureOut">
              <a:rPr lang="en-IN" smtClean="0"/>
              <a:t>19-12-2024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5546B5-7E08-4654-B1BD-434BE713C5BC}" type="slidenum">
              <a:rPr lang="en-IN" smtClean="0"/>
              <a:t>‹#›</a:t>
            </a:fld>
            <a:endParaRPr lang="en-IN"/>
          </a:p>
        </p:txBody>
      </p:sp>
    </p:spTree>
    <p:extLst>
      <p:ext uri="{BB962C8B-B14F-4D97-AF65-F5344CB8AC3E}">
        <p14:creationId xmlns:p14="http://schemas.microsoft.com/office/powerpoint/2010/main" val="9559174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1 Intro – Black text light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bg1"/>
                </a:solidFill>
              </a:defRPr>
            </a:lvl1pPr>
          </a:lstStyle>
          <a:p>
            <a:fld id="{F4BB9EDD-1740-4E4A-8601-A7D0893F42E6}" type="slidenum">
              <a:rPr lang="en-US" smtClean="0"/>
              <a:pPr/>
              <a:t>‹#›</a:t>
            </a:fld>
            <a:endParaRPr lang="en-US"/>
          </a:p>
        </p:txBody>
      </p:sp>
      <p:sp>
        <p:nvSpPr>
          <p:cNvPr id="11" name="Picture Placeholder 10">
            <a:extLst>
              <a:ext uri="{FF2B5EF4-FFF2-40B4-BE49-F238E27FC236}">
                <a16:creationId xmlns:a16="http://schemas.microsoft.com/office/drawing/2014/main" id="{FDBE988F-1BF4-472B-8755-57EAF869555F}"/>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light background picture or leave for white]</a:t>
            </a:r>
          </a:p>
        </p:txBody>
      </p:sp>
      <p:sp>
        <p:nvSpPr>
          <p:cNvPr id="15" name="Rectangle 14">
            <a:extLst>
              <a:ext uri="{FF2B5EF4-FFF2-40B4-BE49-F238E27FC236}">
                <a16:creationId xmlns:a16="http://schemas.microsoft.com/office/drawing/2014/main" id="{93CBD83D-FC01-4B5C-B1AF-BB19331DE3D2}"/>
              </a:ext>
            </a:extLst>
          </p:cNvPr>
          <p:cNvSpPr>
            <a:spLocks/>
          </p:cNvSpPr>
          <p:nvPr userDrawn="1"/>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lvl1pPr>
          </a:lstStyle>
          <a:p>
            <a:fld id="{B7D91282-FF3B-4016-8B1B-F6189EFA3DE0}" type="datetime1">
              <a:rPr lang="sv-SE" smtClean="0"/>
              <a:t>2024-12-19</a:t>
            </a:fld>
            <a:endParaRPr lang="en-US"/>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bIns="0" anchor="b" anchorCtr="0"/>
          <a:lstStyle>
            <a:lvl1pPr algn="ctr">
              <a:lnSpc>
                <a:spcPct val="80000"/>
              </a:lnSpc>
              <a:defRPr sz="5400" b="0" i="0" spc="317" baseline="0">
                <a:solidFill>
                  <a:schemeClr val="tx1"/>
                </a:solidFill>
                <a:latin typeface="Volvo Broad Pro" panose="02000606020000020004"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latin typeface="+mj-lt"/>
                <a:ea typeface="Volvo Broad Pro" panose="02000606020000020004" pitchFamily="50" charset="0"/>
                <a:cs typeface="+mn-cs"/>
              </a:defRPr>
            </a:lvl1pPr>
          </a:lstStyle>
          <a:p>
            <a:pPr lvl="0"/>
            <a:r>
              <a:rPr lang="en-US" noProof="0"/>
              <a:t>Insert sub headline</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5" name="Footer Placeholder 4">
            <a:extLst>
              <a:ext uri="{FF2B5EF4-FFF2-40B4-BE49-F238E27FC236}">
                <a16:creationId xmlns:a16="http://schemas.microsoft.com/office/drawing/2014/main" id="{593539FA-75E5-47C4-A176-BCA731EF1FC8}"/>
              </a:ext>
            </a:extLst>
          </p:cNvPr>
          <p:cNvSpPr>
            <a:spLocks noGrp="1"/>
          </p:cNvSpPr>
          <p:nvPr>
            <p:ph type="ftr" sz="quarter" idx="23"/>
          </p:nvPr>
        </p:nvSpPr>
        <p:spPr>
          <a:xfrm>
            <a:off x="766764" y="6130859"/>
            <a:ext cx="10658474" cy="164442"/>
          </a:xfrm>
        </p:spPr>
        <p:txBody>
          <a:bodyPr anchor="ctr" anchorCtr="0"/>
          <a:lstStyle>
            <a:lvl1pPr algn="ctr">
              <a:defRPr sz="1000">
                <a:solidFill>
                  <a:schemeClr val="tx1"/>
                </a:solidFill>
              </a:defRPr>
            </a:lvl1pPr>
          </a:lstStyle>
          <a:p>
            <a:r>
              <a:rPr lang="en-US"/>
              <a:t>Department name | Document name/ Issuer | Classification</a:t>
            </a:r>
          </a:p>
        </p:txBody>
      </p:sp>
      <p:sp>
        <p:nvSpPr>
          <p:cNvPr id="13" name="Entity">
            <a:extLst>
              <a:ext uri="{FF2B5EF4-FFF2-40B4-BE49-F238E27FC236}">
                <a16:creationId xmlns:a16="http://schemas.microsoft.com/office/drawing/2014/main" id="{8607A533-DD8B-418B-91AC-B4CFEE0664AD}"/>
              </a:ext>
            </a:extLst>
          </p:cNvPr>
          <p:cNvSpPr>
            <a:spLocks noGrp="1"/>
          </p:cNvSpPr>
          <p:nvPr>
            <p:ph type="body" sz="quarter" idx="24" hasCustomPrompt="1"/>
          </p:nvPr>
        </p:nvSpPr>
        <p:spPr>
          <a:xfrm>
            <a:off x="5060816" y="5887220"/>
            <a:ext cx="2070368" cy="216429"/>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913798758"/>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1 Content - Title and bullet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944000"/>
            <a:ext cx="6562725" cy="40773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05EE019E-7143-4DDC-88F7-BF471409BD88}" type="datetime1">
              <a:rPr lang="sv-SE" smtClean="0"/>
              <a:t>2024-12-19</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Department name | Document name/ Issuer | Classification</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8" name="Logotype">
            <a:extLst>
              <a:ext uri="{FF2B5EF4-FFF2-40B4-BE49-F238E27FC236}">
                <a16:creationId xmlns:a16="http://schemas.microsoft.com/office/drawing/2014/main" id="{1BB363F6-F9B6-4408-8667-1272529FBDC4}"/>
              </a:ext>
            </a:extLst>
          </p:cNvPr>
          <p:cNvSpPr>
            <a:spLocks noGrp="1" noChangeAspect="1"/>
          </p:cNvSpPr>
          <p:nvPr>
            <p:ph type="body" sz="quarter" idx="16" hasCustomPrompt="1"/>
          </p:nvPr>
        </p:nvSpPr>
        <p:spPr>
          <a:xfrm>
            <a:off x="287927"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301003194"/>
      </p:ext>
    </p:extLst>
  </p:cSld>
  <p:clrMapOvr>
    <a:masterClrMapping/>
  </p:clrMapOvr>
  <p:extLst>
    <p:ext uri="{DCECCB84-F9BA-43D5-87BE-67443E8EF086}">
      <p15:sldGuideLst xmlns:p15="http://schemas.microsoft.com/office/powerpoint/2012/main">
        <p15:guide id="1" orient="horz" pos="3793">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11 Content – 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fld id="{FE1BD3FE-2320-4E6B-AE32-4B26353F754A}" type="datetime1">
              <a:rPr lang="sv-SE" smtClean="0"/>
              <a:t>2024-12-19</a:t>
            </a:fld>
            <a:endParaRPr lang="en-US"/>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r>
              <a:rPr lang="en-US"/>
              <a:t>Department name | Document name/ Issuer | Classification</a:t>
            </a:r>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Logotype">
            <a:extLst>
              <a:ext uri="{FF2B5EF4-FFF2-40B4-BE49-F238E27FC236}">
                <a16:creationId xmlns:a16="http://schemas.microsoft.com/office/drawing/2014/main" id="{0FEC399D-B3E6-496E-A0B5-4394767AEA70}"/>
              </a:ext>
            </a:extLst>
          </p:cNvPr>
          <p:cNvSpPr>
            <a:spLocks noGrp="1" noChangeAspect="1"/>
          </p:cNvSpPr>
          <p:nvPr>
            <p:ph type="body" sz="quarter" idx="16" hasCustomPrompt="1"/>
          </p:nvPr>
        </p:nvSpPr>
        <p:spPr>
          <a:xfrm>
            <a:off x="287927"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7604591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5 Content - Title, text with large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1961186"/>
            <a:ext cx="3419999" cy="853929"/>
          </a:xfrm>
        </p:spPr>
        <p:txBody>
          <a:bodyPr wrap="square" bIns="0" anchor="b" anchorCtr="0"/>
          <a:lstStyle>
            <a:lvl1pPr>
              <a:defRPr/>
            </a:lvl1pPr>
          </a:lstStyle>
          <a:p>
            <a:r>
              <a:rPr lang="en-US"/>
              <a:t>Insert headline</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4440238"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2916001"/>
            <a:ext cx="3027923"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de-DE"/>
              <a:t>2023-03-07</a:t>
            </a:r>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Digital &amp;IT </a:t>
            </a:r>
            <a:r>
              <a:rPr lang="en-US" err="1"/>
              <a:t>Konz</a:t>
            </a:r>
            <a:r>
              <a:rPr lang="en-US"/>
              <a:t> | Published PDF of drawing 14693192 is not ok/Thomas Endres | Classification: internal </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8" name="Logotype">
            <a:extLst>
              <a:ext uri="{FF2B5EF4-FFF2-40B4-BE49-F238E27FC236}">
                <a16:creationId xmlns:a16="http://schemas.microsoft.com/office/drawing/2014/main" id="{C7F525CB-9B53-4A60-8584-0E2E8489653F}"/>
              </a:ext>
            </a:extLst>
          </p:cNvPr>
          <p:cNvSpPr>
            <a:spLocks noGrp="1" noChangeAspect="1"/>
          </p:cNvSpPr>
          <p:nvPr>
            <p:ph type="body" sz="quarter" idx="16" hasCustomPrompt="1"/>
          </p:nvPr>
        </p:nvSpPr>
        <p:spPr>
          <a:xfrm>
            <a:off x="287927"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521066541"/>
      </p:ext>
    </p:extLst>
  </p:cSld>
  <p:clrMapOvr>
    <a:masterClrMapping/>
  </p:clrMapOvr>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theme" Target="../theme/theme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980786-16C6-4C8B-8F40-5202B591853E}" type="datetimeFigureOut">
              <a:rPr lang="en-IN" smtClean="0"/>
              <a:t>21-12-2024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B5546B5-7E08-4654-B1BD-434BE713C5BC}" type="slidenum">
              <a:rPr lang="en-IN" smtClean="0"/>
              <a:t>‹#›</a:t>
            </a:fld>
            <a:endParaRPr lang="en-IN"/>
          </a:p>
        </p:txBody>
      </p:sp>
    </p:spTree>
    <p:extLst>
      <p:ext uri="{BB962C8B-B14F-4D97-AF65-F5344CB8AC3E}">
        <p14:creationId xmlns:p14="http://schemas.microsoft.com/office/powerpoint/2010/main" val="29155719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80" r:id="rId19"/>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8980786-16C6-4C8B-8F40-5202B591853E}" type="datetimeFigureOut">
              <a:rPr lang="en-IN" smtClean="0"/>
              <a:t>19-12-2024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B5546B5-7E08-4654-B1BD-434BE713C5BC}" type="slidenum">
              <a:rPr lang="en-IN" smtClean="0"/>
              <a:t>‹#›</a:t>
            </a:fld>
            <a:endParaRPr lang="en-IN"/>
          </a:p>
        </p:txBody>
      </p:sp>
    </p:spTree>
    <p:extLst>
      <p:ext uri="{BB962C8B-B14F-4D97-AF65-F5344CB8AC3E}">
        <p14:creationId xmlns:p14="http://schemas.microsoft.com/office/powerpoint/2010/main" val="2582955944"/>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vcewindchill.got.volvo.net/Windchill/app/#ptc1/tcomp/infoPage?ContainerOid=OR%3Awt.pdmlink.PDMLinkProduct%3A4526079056&amp;oid=VR%3Awt.change2.WTChangeOrder2%3A16676824636&amp;u8=1" TargetMode="External"/><Relationship Id="rId2" Type="http://schemas.openxmlformats.org/officeDocument/2006/relationships/image" Target="../media/image7.png"/><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8.xml"/><Relationship Id="rId5" Type="http://schemas.openxmlformats.org/officeDocument/2006/relationships/hyperlink" Target="https://testvcewindchill.got.volvo.net/Windchill/app/#ptc1/tcomp/infoPage?ContainerOid=OR%3Awt.pdmlink.PDMLinkProduct%3A4526079056&amp;oid=VR%3Awt.part.WTPart%3A14018468884&amp;u8=1" TargetMode="External"/><Relationship Id="rId4" Type="http://schemas.openxmlformats.org/officeDocument/2006/relationships/hyperlink" Target="https://testvcewindchill.got.volvo.net/Windchill/app/#ptc1/tcomp/infoPage?ContainerOid=OR%3Awt.pdmlink.PDMLinkProduct%3A4526079056&amp;oid=VR%3Awt.part.WTPart%3A14018622136&amp;u8=1"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8.xml"/><Relationship Id="rId5" Type="http://schemas.openxmlformats.org/officeDocument/2006/relationships/hyperlink" Target="https://testvcewindchill.got.volvo.net/Windchill/app/#ptc1/tcomp/infoPage?ContainerOid=OR%3Awt.pdmlink.PDMLinkProduct%3A4526079056&amp;oid=VR%3Awt.change2.WTChangeOrder2%3A16672978428&amp;u8=1" TargetMode="Externa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8.xml"/><Relationship Id="rId5" Type="http://schemas.openxmlformats.org/officeDocument/2006/relationships/hyperlink" Target="https://qavcewindchill.got.volvo.net/Windchill/app/#ptc1/tcomp/infoPage?ContainerOid=OR%3Awt.pdmlink.PDMLinkProduct%3A4526079056&amp;oid=VR%3Awt.part.WTPart%3A14018468884&amp;u8=1" TargetMode="External"/><Relationship Id="rId4" Type="http://schemas.openxmlformats.org/officeDocument/2006/relationships/hyperlink" Target="https://qavcewindchill.got.volvo.net/Windchill/app/#ptc1/tcomp/infoPage?ContainerOid=OR%3Awt.pdmlink.PDMLinkProduct%3A4526079056&amp;oid=VR%3Awt.part.WTPart%3A14018622136&amp;u8=1"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8.xml"/><Relationship Id="rId5" Type="http://schemas.openxmlformats.org/officeDocument/2006/relationships/hyperlink" Target="https://qavcewindchill.got.volvo.net/Windchill/app/#ptc1/tcomp/infoPage?ContainerOid=OR%3Awt.pdmlink.PDMLinkProduct%3A4526079056&amp;oid=VR%3Awt.change2.WTChangeOrder2%3A16676803077&amp;u8=1" TargetMode="Externa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4D1FC-61D3-FAE2-1C8B-717863D76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0B894-8D87-BB15-69F7-157832BF7939}"/>
              </a:ext>
            </a:extLst>
          </p:cNvPr>
          <p:cNvSpPr>
            <a:spLocks noGrp="1"/>
          </p:cNvSpPr>
          <p:nvPr>
            <p:ph type="ctrTitle"/>
          </p:nvPr>
        </p:nvSpPr>
        <p:spPr>
          <a:xfrm>
            <a:off x="177283" y="1145306"/>
            <a:ext cx="9438666" cy="2905527"/>
          </a:xfrm>
        </p:spPr>
        <p:txBody>
          <a:bodyPr/>
          <a:lstStyle/>
          <a:p>
            <a:r>
              <a:rPr lang="en-US" b="0" i="0" u="none" strike="noStrike" dirty="0">
                <a:effectLst/>
                <a:latin typeface="Lato" panose="020F0502020204030203" pitchFamily="34" charset="0"/>
              </a:rPr>
              <a:t>Agenish’ s Request</a:t>
            </a:r>
            <a:br>
              <a:rPr lang="en-IN" sz="2000" dirty="0"/>
            </a:br>
            <a:r>
              <a:rPr lang="en-IN" sz="2000" dirty="0"/>
              <a:t>DCN issues</a:t>
            </a:r>
            <a:br>
              <a:rPr lang="en-IN" sz="2000" dirty="0"/>
            </a:br>
            <a:r>
              <a:rPr lang="en-IN" sz="2000" dirty="0"/>
              <a:t>Distribution targets are triggered for all plant views</a:t>
            </a:r>
            <a:br>
              <a:rPr lang="en-IN" sz="2000" dirty="0"/>
            </a:br>
            <a:r>
              <a:rPr lang="en-IN" sz="2000" dirty="0"/>
              <a:t>End item business rule </a:t>
            </a:r>
            <a:endParaRPr lang="en-US" sz="2000" dirty="0"/>
          </a:p>
        </p:txBody>
      </p:sp>
      <p:sp>
        <p:nvSpPr>
          <p:cNvPr id="3" name="Subtitle 2">
            <a:extLst>
              <a:ext uri="{FF2B5EF4-FFF2-40B4-BE49-F238E27FC236}">
                <a16:creationId xmlns:a16="http://schemas.microsoft.com/office/drawing/2014/main" id="{E5A155E8-E1F2-1491-2DC1-B31009068A7E}"/>
              </a:ext>
            </a:extLst>
          </p:cNvPr>
          <p:cNvSpPr>
            <a:spLocks noGrp="1"/>
          </p:cNvSpPr>
          <p:nvPr>
            <p:ph type="subTitle" idx="1"/>
          </p:nvPr>
        </p:nvSpPr>
        <p:spPr>
          <a:xfrm>
            <a:off x="1507066" y="4050833"/>
            <a:ext cx="8108881" cy="1096899"/>
          </a:xfrm>
        </p:spPr>
        <p:txBody>
          <a:bodyPr/>
          <a:lstStyle/>
          <a:p>
            <a:r>
              <a:rPr lang="en-IN" dirty="0"/>
              <a:t>20-Dec-2024</a:t>
            </a:r>
            <a:endParaRPr lang="en-US" dirty="0"/>
          </a:p>
        </p:txBody>
      </p:sp>
    </p:spTree>
    <p:extLst>
      <p:ext uri="{BB962C8B-B14F-4D97-AF65-F5344CB8AC3E}">
        <p14:creationId xmlns:p14="http://schemas.microsoft.com/office/powerpoint/2010/main" val="697945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845B93-ADB4-F876-4FD2-C43AD620A960}"/>
              </a:ext>
            </a:extLst>
          </p:cNvPr>
          <p:cNvSpPr>
            <a:spLocks noGrp="1"/>
          </p:cNvSpPr>
          <p:nvPr>
            <p:ph type="body" sz="quarter" idx="16"/>
          </p:nvPr>
        </p:nvSpPr>
        <p:spPr/>
        <p:txBody>
          <a:bodyPr>
            <a:normAutofit fontScale="25000" lnSpcReduction="20000"/>
          </a:bodyPr>
          <a:lstStyle/>
          <a:p>
            <a:endParaRPr lang="en-US"/>
          </a:p>
        </p:txBody>
      </p:sp>
      <p:sp>
        <p:nvSpPr>
          <p:cNvPr id="4" name="TextBox 3">
            <a:extLst>
              <a:ext uri="{FF2B5EF4-FFF2-40B4-BE49-F238E27FC236}">
                <a16:creationId xmlns:a16="http://schemas.microsoft.com/office/drawing/2014/main" id="{D6535CC4-01E3-7D86-2DC4-EC829C85180B}"/>
              </a:ext>
            </a:extLst>
          </p:cNvPr>
          <p:cNvSpPr txBox="1"/>
          <p:nvPr/>
        </p:nvSpPr>
        <p:spPr>
          <a:xfrm>
            <a:off x="0" y="-9331"/>
            <a:ext cx="12192000" cy="1015663"/>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We observed a couple of issues with DCN this morning together with Anton. Below are the issues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rPr>
              <a:t>Distribution targets are triggered for all plant views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It should be only triggered for manufacturing but in our current case in the below DCN we see it has been triggered for all plants which can happen only if there are downstream equivalents for the resulting object and in this case it hasn’t any. Based on a discussion with Sithik, I have inactivated the plant distribution targets as a workaround so that we send them to ODC/FM moving forward. Can you please further analyze the DCN and see when this was changed? Can you also create a bug with an analysis?</a:t>
            </a:r>
          </a:p>
        </p:txBody>
      </p:sp>
      <p:pic>
        <p:nvPicPr>
          <p:cNvPr id="7" name="Snagit_SNGOUT2116">
            <a:extLst>
              <a:ext uri="{FF2B5EF4-FFF2-40B4-BE49-F238E27FC236}">
                <a16:creationId xmlns:a16="http://schemas.microsoft.com/office/drawing/2014/main" id="{FAC8AC12-56CC-3CD3-0544-EF2D761EF4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6332"/>
            <a:ext cx="12192000" cy="4833326"/>
          </a:xfrm>
          <a:prstGeom prst="rect">
            <a:avLst/>
          </a:prstGeom>
        </p:spPr>
      </p:pic>
      <p:sp>
        <p:nvSpPr>
          <p:cNvPr id="5" name="TextBox 4">
            <a:extLst>
              <a:ext uri="{FF2B5EF4-FFF2-40B4-BE49-F238E27FC236}">
                <a16:creationId xmlns:a16="http://schemas.microsoft.com/office/drawing/2014/main" id="{F9DA8ED0-880E-B5B4-D822-5DE444E83B66}"/>
              </a:ext>
            </a:extLst>
          </p:cNvPr>
          <p:cNvSpPr txBox="1"/>
          <p:nvPr/>
        </p:nvSpPr>
        <p:spPr>
          <a:xfrm>
            <a:off x="0" y="5657671"/>
            <a:ext cx="12192000" cy="1200329"/>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Calibri" panose="020F0502020204030204"/>
                <a:ea typeface="+mn-ea"/>
                <a:cs typeface="+mn-cs"/>
              </a:rPr>
              <a:t>End item business rule </a:t>
            </a: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 Generally if we have Volvo part in the DCN there is a business rule to check if it has an end item associated with it, but I see that rule missing in the DCN(highlighted) here, I quickly looked at the code and it seems to be a viable candidate to have the rule conflict but in prod it doesn’t happen today. Please analyze further on this and create a bug if you see that it’s working otherwise.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Regards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rPr>
              <a:t>Agenish</a:t>
            </a:r>
          </a:p>
        </p:txBody>
      </p:sp>
      <p:sp>
        <p:nvSpPr>
          <p:cNvPr id="9" name="TextBox 8">
            <a:extLst>
              <a:ext uri="{FF2B5EF4-FFF2-40B4-BE49-F238E27FC236}">
                <a16:creationId xmlns:a16="http://schemas.microsoft.com/office/drawing/2014/main" id="{AADF229A-0235-B9B5-5827-C103206F6455}"/>
              </a:ext>
            </a:extLst>
          </p:cNvPr>
          <p:cNvSpPr txBox="1"/>
          <p:nvPr/>
        </p:nvSpPr>
        <p:spPr>
          <a:xfrm>
            <a:off x="10850724" y="1006324"/>
            <a:ext cx="1341276" cy="369332"/>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anose="020B0604020202020204" pitchFamily="34" charset="0"/>
                <a:ea typeface="+mn-ea"/>
                <a:cs typeface="+mn-cs"/>
                <a:hlinkClick r:id="rId3">
                  <a:extLst>
                    <a:ext uri="{A12FA001-AC4F-418D-AE19-62706E023703}">
                      <ahyp:hlinkClr xmlns:ahyp="http://schemas.microsoft.com/office/drawing/2018/hyperlinkcolor" val="tx"/>
                    </a:ext>
                  </a:extLst>
                </a:hlinkClick>
              </a:rPr>
              <a:t>115670WC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3439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Snagit_SNGOUT2121">
            <a:extLst>
              <a:ext uri="{FF2B5EF4-FFF2-40B4-BE49-F238E27FC236}">
                <a16:creationId xmlns:a16="http://schemas.microsoft.com/office/drawing/2014/main" id="{CC8B34FB-4656-354A-2C28-1888C46616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6603025" cy="4777799"/>
          </a:xfrm>
          <a:prstGeom prst="rect">
            <a:avLst/>
          </a:prstGeom>
        </p:spPr>
      </p:pic>
      <p:pic>
        <p:nvPicPr>
          <p:cNvPr id="16" name="Snagit_SNGOUT2129">
            <a:extLst>
              <a:ext uri="{FF2B5EF4-FFF2-40B4-BE49-F238E27FC236}">
                <a16:creationId xmlns:a16="http://schemas.microsoft.com/office/drawing/2014/main" id="{732347BC-1F28-2146-BFE3-FE52539186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
            <a:ext cx="6096000" cy="4777800"/>
          </a:xfrm>
          <a:prstGeom prst="rect">
            <a:avLst/>
          </a:prstGeom>
        </p:spPr>
      </p:pic>
      <p:sp>
        <p:nvSpPr>
          <p:cNvPr id="2" name="Text Placeholder 1">
            <a:extLst>
              <a:ext uri="{FF2B5EF4-FFF2-40B4-BE49-F238E27FC236}">
                <a16:creationId xmlns:a16="http://schemas.microsoft.com/office/drawing/2014/main" id="{3CE30929-32CE-0E25-2D14-BB25DF5AC9CC}"/>
              </a:ext>
            </a:extLst>
          </p:cNvPr>
          <p:cNvSpPr>
            <a:spLocks noGrp="1"/>
          </p:cNvSpPr>
          <p:nvPr>
            <p:ph type="body" sz="quarter" idx="16"/>
          </p:nvPr>
        </p:nvSpPr>
        <p:spPr/>
        <p:txBody>
          <a:bodyPr>
            <a:normAutofit fontScale="25000" lnSpcReduction="20000"/>
          </a:bodyPr>
          <a:lstStyle/>
          <a:p>
            <a:endParaRPr lang="en-US"/>
          </a:p>
        </p:txBody>
      </p:sp>
      <p:sp>
        <p:nvSpPr>
          <p:cNvPr id="8" name="TextBox 7">
            <a:extLst>
              <a:ext uri="{FF2B5EF4-FFF2-40B4-BE49-F238E27FC236}">
                <a16:creationId xmlns:a16="http://schemas.microsoft.com/office/drawing/2014/main" id="{30B6D02E-5133-D772-CCE4-4C25EFB45651}"/>
              </a:ext>
            </a:extLst>
          </p:cNvPr>
          <p:cNvSpPr txBox="1"/>
          <p:nvPr/>
        </p:nvSpPr>
        <p:spPr>
          <a:xfrm>
            <a:off x="4864359" y="-3796"/>
            <a:ext cx="1231641" cy="369332"/>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anose="020B0604020202020204" pitchFamily="34" charset="0"/>
                <a:ea typeface="+mn-ea"/>
                <a:cs typeface="+mn-cs"/>
                <a:hlinkClick r:id="rId4">
                  <a:extLst>
                    <a:ext uri="{A12FA001-AC4F-418D-AE19-62706E023703}">
                      <ahyp:hlinkClr xmlns:ahyp="http://schemas.microsoft.com/office/drawing/2018/hyperlinkcolor" val="tx"/>
                    </a:ext>
                  </a:extLst>
                </a:hlinkClick>
              </a:rPr>
              <a:t>53133340</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BA9537B8-8A43-BD72-1E6D-CA7860679C3D}"/>
              </a:ext>
            </a:extLst>
          </p:cNvPr>
          <p:cNvSpPr txBox="1"/>
          <p:nvPr/>
        </p:nvSpPr>
        <p:spPr>
          <a:xfrm>
            <a:off x="10951028" y="-9335"/>
            <a:ext cx="1240972" cy="369332"/>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anose="020B0604020202020204" pitchFamily="34" charset="0"/>
                <a:ea typeface="+mn-ea"/>
                <a:cs typeface="+mn-cs"/>
                <a:hlinkClick r:id="rId5">
                  <a:extLst>
                    <a:ext uri="{A12FA001-AC4F-418D-AE19-62706E023703}">
                      <ahyp:hlinkClr xmlns:ahyp="http://schemas.microsoft.com/office/drawing/2018/hyperlinkcolor" val="tx"/>
                    </a:ext>
                  </a:extLst>
                </a:hlinkClick>
              </a:rPr>
              <a:t>53133288</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249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368537-16BA-D28E-516F-5FB4AF68AB51}"/>
              </a:ext>
            </a:extLst>
          </p:cNvPr>
          <p:cNvSpPr>
            <a:spLocks noGrp="1"/>
          </p:cNvSpPr>
          <p:nvPr>
            <p:ph type="body" sz="quarter" idx="16"/>
          </p:nvPr>
        </p:nvSpPr>
        <p:spPr/>
        <p:txBody>
          <a:bodyPr>
            <a:normAutofit fontScale="25000" lnSpcReduction="20000"/>
          </a:bodyPr>
          <a:lstStyle/>
          <a:p>
            <a:endParaRPr lang="en-US"/>
          </a:p>
        </p:txBody>
      </p:sp>
      <p:pic>
        <p:nvPicPr>
          <p:cNvPr id="6" name="Snagit_SNGOUT2140">
            <a:extLst>
              <a:ext uri="{FF2B5EF4-FFF2-40B4-BE49-F238E27FC236}">
                <a16:creationId xmlns:a16="http://schemas.microsoft.com/office/drawing/2014/main" id="{8AEFA3A7-34CA-8A41-82C6-7A687FCE2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92"/>
            <a:ext cx="9330506" cy="4136923"/>
          </a:xfrm>
          <a:prstGeom prst="rect">
            <a:avLst/>
          </a:prstGeom>
        </p:spPr>
      </p:pic>
      <p:pic>
        <p:nvPicPr>
          <p:cNvPr id="5" name="Snagit_SNGOUT2151">
            <a:extLst>
              <a:ext uri="{FF2B5EF4-FFF2-40B4-BE49-F238E27FC236}">
                <a16:creationId xmlns:a16="http://schemas.microsoft.com/office/drawing/2014/main" id="{006D9ADD-FFB4-A7B3-46B2-A4C1F23E5E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41515"/>
            <a:ext cx="12192000" cy="2716486"/>
          </a:xfrm>
          <a:prstGeom prst="rect">
            <a:avLst/>
          </a:prstGeom>
        </p:spPr>
      </p:pic>
      <p:sp>
        <p:nvSpPr>
          <p:cNvPr id="3" name="TextBox 2">
            <a:extLst>
              <a:ext uri="{FF2B5EF4-FFF2-40B4-BE49-F238E27FC236}">
                <a16:creationId xmlns:a16="http://schemas.microsoft.com/office/drawing/2014/main" id="{95280EB5-0FE8-647D-141E-8FD338C58D5A}"/>
              </a:ext>
            </a:extLst>
          </p:cNvPr>
          <p:cNvSpPr txBox="1"/>
          <p:nvPr/>
        </p:nvSpPr>
        <p:spPr>
          <a:xfrm>
            <a:off x="1912775" y="5383774"/>
            <a:ext cx="4932783" cy="461665"/>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Aptos" panose="020B0004020202020204" pitchFamily="34" charset="0"/>
                <a:cs typeface="Aptos" panose="020B0004020202020204" pitchFamily="34" charset="0"/>
              </a:rPr>
              <a:t>Distribution targets are triggered for all plant views </a:t>
            </a:r>
            <a:r>
              <a:rPr kumimoji="0" lang="en-US" sz="1200" b="0" i="0" u="none" strike="noStrike" kern="1200" cap="none" spc="0" normalizeH="0" baseline="0" noProof="0" dirty="0">
                <a:ln>
                  <a:noFill/>
                </a:ln>
                <a:solidFill>
                  <a:prstClr val="black"/>
                </a:solidFill>
                <a:effectLst/>
                <a:uLnTx/>
                <a:uFillTx/>
                <a:latin typeface="Calibri" panose="020F0502020204030204"/>
                <a:ea typeface="Aptos" panose="020B0004020202020204" pitchFamily="34" charset="0"/>
                <a:cs typeface="Aptos" panose="020B0004020202020204" pitchFamily="34" charset="0"/>
              </a:rPr>
              <a:t>– In TEST environment, it has triggered only for Manufacturing.</a:t>
            </a:r>
            <a:endParaRPr kumimoji="0" lang="en-US" sz="1400" b="0" i="0" u="none" strike="noStrike" kern="1200" cap="none" spc="0" normalizeH="0" baseline="0" noProof="0" dirty="0">
              <a:ln>
                <a:noFill/>
              </a:ln>
              <a:solidFill>
                <a:prstClr val="black"/>
              </a:solidFill>
              <a:effectLst/>
              <a:uLnTx/>
              <a:uFillTx/>
              <a:latin typeface="Calibri" panose="020F0502020204030204"/>
              <a:ea typeface="Aptos" panose="020B0004020202020204" pitchFamily="34" charset="0"/>
              <a:cs typeface="Aptos" panose="020B0004020202020204" pitchFamily="34" charset="0"/>
            </a:endParaRPr>
          </a:p>
        </p:txBody>
      </p:sp>
      <p:pic>
        <p:nvPicPr>
          <p:cNvPr id="8" name="Snagit_SNGOUT2108">
            <a:extLst>
              <a:ext uri="{FF2B5EF4-FFF2-40B4-BE49-F238E27FC236}">
                <a16:creationId xmlns:a16="http://schemas.microsoft.com/office/drawing/2014/main" id="{DD8C715D-60C5-F414-EC76-0E83B72200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3967" y="-2"/>
            <a:ext cx="7508032" cy="2521176"/>
          </a:xfrm>
          <a:prstGeom prst="rect">
            <a:avLst/>
          </a:prstGeom>
        </p:spPr>
      </p:pic>
      <p:sp>
        <p:nvSpPr>
          <p:cNvPr id="10" name="TextBox 9">
            <a:extLst>
              <a:ext uri="{FF2B5EF4-FFF2-40B4-BE49-F238E27FC236}">
                <a16:creationId xmlns:a16="http://schemas.microsoft.com/office/drawing/2014/main" id="{3EF71FDC-1E0F-92D1-2739-D78C5175C79A}"/>
              </a:ext>
            </a:extLst>
          </p:cNvPr>
          <p:cNvSpPr txBox="1"/>
          <p:nvPr/>
        </p:nvSpPr>
        <p:spPr>
          <a:xfrm>
            <a:off x="10867052" y="-9331"/>
            <a:ext cx="1324947" cy="369332"/>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anose="020B0604020202020204" pitchFamily="34" charset="0"/>
                <a:ea typeface="+mn-ea"/>
                <a:cs typeface="+mn-cs"/>
                <a:hlinkClick r:id="rId5">
                  <a:extLst>
                    <a:ext uri="{A12FA001-AC4F-418D-AE19-62706E023703}">
                      <ahyp:hlinkClr xmlns:ahyp="http://schemas.microsoft.com/office/drawing/2018/hyperlinkcolor" val="tx"/>
                    </a:ext>
                  </a:extLst>
                </a:hlinkClick>
              </a:rPr>
              <a:t>115694WC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EF2BA7E3-F4A4-BBB8-FA2E-C238477F4F80}"/>
              </a:ext>
            </a:extLst>
          </p:cNvPr>
          <p:cNvSpPr txBox="1"/>
          <p:nvPr/>
        </p:nvSpPr>
        <p:spPr>
          <a:xfrm>
            <a:off x="8238931" y="553378"/>
            <a:ext cx="3953069" cy="461665"/>
          </a:xfrm>
          <a:prstGeom prst="rect">
            <a:avLst/>
          </a:prstGeom>
          <a:solidFill>
            <a:srgbClr val="FFFF00"/>
          </a:solidFill>
          <a:ln>
            <a:solidFill>
              <a:srgbClr val="0070C0"/>
            </a:solidFill>
          </a:ln>
        </p:spPr>
        <p:txBody>
          <a:bodyPr wrap="square">
            <a:spAutoFit/>
          </a:bodyPr>
          <a:lstStyle>
            <a:defPPr>
              <a:defRPr lang="en-US"/>
            </a:defPPr>
            <a:lvl1pPr>
              <a:defRPr sz="1200" b="1">
                <a:effectLst/>
                <a:latin typeface="Aptos" panose="020B0004020202020204" pitchFamily="34" charset="0"/>
                <a:ea typeface="Aptos" panose="020B0004020202020204" pitchFamily="34" charset="0"/>
                <a:cs typeface="Aptos" panose="020B0004020202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rPr>
              <a:t>End item business rule </a:t>
            </a:r>
            <a:r>
              <a:rPr kumimoji="0" lang="en-US" sz="1200" b="0" i="0" u="none" strike="noStrike" kern="1200" cap="none" spc="0" normalizeH="0" baseline="0" noProof="0" dirty="0">
                <a:ln>
                  <a:noFill/>
                </a:ln>
                <a:solidFill>
                  <a:prstClr val="black"/>
                </a:solidFill>
                <a:effectLst/>
                <a:uLnTx/>
                <a:uFillTx/>
                <a:latin typeface="Calibri" panose="020F0502020204030204"/>
              </a:rPr>
              <a:t>– In TEST environment, the DCN with Volvo part has checked for an end item associated with it.</a:t>
            </a:r>
          </a:p>
        </p:txBody>
      </p:sp>
    </p:spTree>
    <p:extLst>
      <p:ext uri="{BB962C8B-B14F-4D97-AF65-F5344CB8AC3E}">
        <p14:creationId xmlns:p14="http://schemas.microsoft.com/office/powerpoint/2010/main" val="1350339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nagit_SNGOUT2132">
            <a:extLst>
              <a:ext uri="{FF2B5EF4-FFF2-40B4-BE49-F238E27FC236}">
                <a16:creationId xmlns:a16="http://schemas.microsoft.com/office/drawing/2014/main" id="{2109CC8B-AA3D-85AB-61F0-0A54B2F156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331"/>
            <a:ext cx="6448297" cy="4679202"/>
          </a:xfrm>
          <a:prstGeom prst="rect">
            <a:avLst/>
          </a:prstGeom>
        </p:spPr>
      </p:pic>
      <p:pic>
        <p:nvPicPr>
          <p:cNvPr id="21" name="Snagit_SNGOUT2117">
            <a:extLst>
              <a:ext uri="{FF2B5EF4-FFF2-40B4-BE49-F238E27FC236}">
                <a16:creationId xmlns:a16="http://schemas.microsoft.com/office/drawing/2014/main" id="{EDF40B5F-FB35-EF33-1CFE-11B323F8A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4188" y="-9331"/>
            <a:ext cx="5977812" cy="4679202"/>
          </a:xfrm>
          <a:prstGeom prst="rect">
            <a:avLst/>
          </a:prstGeom>
        </p:spPr>
      </p:pic>
      <p:sp>
        <p:nvSpPr>
          <p:cNvPr id="2" name="Text Placeholder 1">
            <a:extLst>
              <a:ext uri="{FF2B5EF4-FFF2-40B4-BE49-F238E27FC236}">
                <a16:creationId xmlns:a16="http://schemas.microsoft.com/office/drawing/2014/main" id="{755EDC3A-A978-6BE3-28FD-9E1825F78875}"/>
              </a:ext>
            </a:extLst>
          </p:cNvPr>
          <p:cNvSpPr>
            <a:spLocks noGrp="1"/>
          </p:cNvSpPr>
          <p:nvPr>
            <p:ph type="body" sz="quarter" idx="16"/>
          </p:nvPr>
        </p:nvSpPr>
        <p:spPr/>
        <p:txBody>
          <a:bodyPr>
            <a:normAutofit fontScale="25000" lnSpcReduction="20000"/>
          </a:bodyPr>
          <a:lstStyle/>
          <a:p>
            <a:endParaRPr lang="en-US"/>
          </a:p>
        </p:txBody>
      </p:sp>
      <p:sp>
        <p:nvSpPr>
          <p:cNvPr id="8" name="TextBox 7">
            <a:extLst>
              <a:ext uri="{FF2B5EF4-FFF2-40B4-BE49-F238E27FC236}">
                <a16:creationId xmlns:a16="http://schemas.microsoft.com/office/drawing/2014/main" id="{F2FAC97F-97DD-9CE4-BE73-1C0FA33050B5}"/>
              </a:ext>
            </a:extLst>
          </p:cNvPr>
          <p:cNvSpPr txBox="1"/>
          <p:nvPr/>
        </p:nvSpPr>
        <p:spPr>
          <a:xfrm>
            <a:off x="5001208" y="-9832"/>
            <a:ext cx="1212980" cy="369332"/>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anose="020B0604020202020204" pitchFamily="34" charset="0"/>
                <a:ea typeface="+mn-ea"/>
                <a:cs typeface="+mn-cs"/>
                <a:hlinkClick r:id="rId4">
                  <a:extLst>
                    <a:ext uri="{A12FA001-AC4F-418D-AE19-62706E023703}">
                      <ahyp:hlinkClr xmlns:ahyp="http://schemas.microsoft.com/office/drawing/2018/hyperlinkcolor" val="tx"/>
                    </a:ext>
                  </a:extLst>
                </a:hlinkClick>
              </a:rPr>
              <a:t>53133340</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BDFB4F5D-3184-F898-139D-6102070552E8}"/>
              </a:ext>
            </a:extLst>
          </p:cNvPr>
          <p:cNvSpPr txBox="1"/>
          <p:nvPr/>
        </p:nvSpPr>
        <p:spPr>
          <a:xfrm>
            <a:off x="10979020" y="-9331"/>
            <a:ext cx="1212980" cy="369332"/>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anose="020B0604020202020204" pitchFamily="34" charset="0"/>
                <a:ea typeface="+mn-ea"/>
                <a:cs typeface="+mn-cs"/>
                <a:hlinkClick r:id="rId5">
                  <a:extLst>
                    <a:ext uri="{A12FA001-AC4F-418D-AE19-62706E023703}">
                      <ahyp:hlinkClr xmlns:ahyp="http://schemas.microsoft.com/office/drawing/2018/hyperlinkcolor" val="tx"/>
                    </a:ext>
                  </a:extLst>
                </a:hlinkClick>
              </a:rPr>
              <a:t>53133288</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4626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3C80888-D296-8466-8EEB-52FC3C24D22A}"/>
              </a:ext>
            </a:extLst>
          </p:cNvPr>
          <p:cNvSpPr>
            <a:spLocks noGrp="1"/>
          </p:cNvSpPr>
          <p:nvPr>
            <p:ph type="body" sz="quarter" idx="16"/>
          </p:nvPr>
        </p:nvSpPr>
        <p:spPr/>
        <p:txBody>
          <a:bodyPr>
            <a:normAutofit fontScale="25000" lnSpcReduction="20000"/>
          </a:bodyPr>
          <a:lstStyle/>
          <a:p>
            <a:endParaRPr lang="en-US"/>
          </a:p>
        </p:txBody>
      </p:sp>
      <p:pic>
        <p:nvPicPr>
          <p:cNvPr id="23" name="Snagit_SNGOUT2157">
            <a:extLst>
              <a:ext uri="{FF2B5EF4-FFF2-40B4-BE49-F238E27FC236}">
                <a16:creationId xmlns:a16="http://schemas.microsoft.com/office/drawing/2014/main" id="{0C5A50BC-1053-02D6-9F63-A0EBF4510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160087"/>
            <a:ext cx="12192000" cy="2697913"/>
          </a:xfrm>
          <a:prstGeom prst="rect">
            <a:avLst/>
          </a:prstGeom>
        </p:spPr>
      </p:pic>
      <p:pic>
        <p:nvPicPr>
          <p:cNvPr id="12" name="Snagit_SNGOUT2130">
            <a:extLst>
              <a:ext uri="{FF2B5EF4-FFF2-40B4-BE49-F238E27FC236}">
                <a16:creationId xmlns:a16="http://schemas.microsoft.com/office/drawing/2014/main" id="{11421DBC-CC35-4398-FF44-2B58110873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9815805" cy="4759022"/>
          </a:xfrm>
          <a:prstGeom prst="rect">
            <a:avLst/>
          </a:prstGeom>
        </p:spPr>
      </p:pic>
      <p:pic>
        <p:nvPicPr>
          <p:cNvPr id="26" name="Snagit_SNGOUT2106">
            <a:extLst>
              <a:ext uri="{FF2B5EF4-FFF2-40B4-BE49-F238E27FC236}">
                <a16:creationId xmlns:a16="http://schemas.microsoft.com/office/drawing/2014/main" id="{1A7BE4AD-D2E8-8FFB-0138-3A3FF69EBA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8735" y="-1"/>
            <a:ext cx="7853265" cy="2124414"/>
          </a:xfrm>
          <a:prstGeom prst="rect">
            <a:avLst/>
          </a:prstGeom>
        </p:spPr>
      </p:pic>
      <p:sp>
        <p:nvSpPr>
          <p:cNvPr id="4" name="TextBox 3">
            <a:extLst>
              <a:ext uri="{FF2B5EF4-FFF2-40B4-BE49-F238E27FC236}">
                <a16:creationId xmlns:a16="http://schemas.microsoft.com/office/drawing/2014/main" id="{B290DFF6-A459-9063-280C-EE0738283399}"/>
              </a:ext>
            </a:extLst>
          </p:cNvPr>
          <p:cNvSpPr txBox="1"/>
          <p:nvPr/>
        </p:nvSpPr>
        <p:spPr>
          <a:xfrm>
            <a:off x="10876384" y="0"/>
            <a:ext cx="1315616" cy="369332"/>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anose="020B0604020202020204" pitchFamily="34" charset="0"/>
                <a:ea typeface="+mn-ea"/>
                <a:cs typeface="+mn-cs"/>
                <a:hlinkClick r:id="rId5">
                  <a:extLst>
                    <a:ext uri="{A12FA001-AC4F-418D-AE19-62706E023703}">
                      <ahyp:hlinkClr xmlns:ahyp="http://schemas.microsoft.com/office/drawing/2018/hyperlinkcolor" val="tx"/>
                    </a:ext>
                  </a:extLst>
                </a:hlinkClick>
              </a:rPr>
              <a:t>115795WC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9521242-A973-9E7E-7DD0-A64BA2FA7E46}"/>
              </a:ext>
            </a:extLst>
          </p:cNvPr>
          <p:cNvSpPr txBox="1"/>
          <p:nvPr/>
        </p:nvSpPr>
        <p:spPr>
          <a:xfrm>
            <a:off x="1912775" y="5383774"/>
            <a:ext cx="4932783" cy="461665"/>
          </a:xfrm>
          <a:prstGeom prst="rect">
            <a:avLst/>
          </a:prstGeom>
          <a:solidFill>
            <a:srgbClr val="FFFF00"/>
          </a:solidFill>
          <a:ln>
            <a:solidFill>
              <a:srgbClr val="0070C0"/>
            </a:solidFill>
          </a:ln>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Aptos" panose="020B0004020202020204" pitchFamily="34" charset="0"/>
                <a:cs typeface="Aptos" panose="020B0004020202020204" pitchFamily="34" charset="0"/>
              </a:rPr>
              <a:t>Distribution targets are triggered for all plant views </a:t>
            </a:r>
            <a:r>
              <a:rPr kumimoji="0" lang="en-US" sz="1200" b="0" i="0" u="none" strike="noStrike" kern="1200" cap="none" spc="0" normalizeH="0" baseline="0" noProof="0" dirty="0">
                <a:ln>
                  <a:noFill/>
                </a:ln>
                <a:solidFill>
                  <a:prstClr val="black"/>
                </a:solidFill>
                <a:effectLst/>
                <a:uLnTx/>
                <a:uFillTx/>
                <a:latin typeface="Calibri" panose="020F0502020204030204"/>
                <a:ea typeface="Aptos" panose="020B0004020202020204" pitchFamily="34" charset="0"/>
                <a:cs typeface="Aptos" panose="020B0004020202020204" pitchFamily="34" charset="0"/>
              </a:rPr>
              <a:t>– In QA environment, it has triggered only for Manufacturing.</a:t>
            </a:r>
            <a:endParaRPr kumimoji="0" lang="en-US" sz="1400" b="0" i="0" u="none" strike="noStrike" kern="1200" cap="none" spc="0" normalizeH="0" baseline="0" noProof="0" dirty="0">
              <a:ln>
                <a:noFill/>
              </a:ln>
              <a:solidFill>
                <a:prstClr val="black"/>
              </a:solidFill>
              <a:effectLst/>
              <a:uLnTx/>
              <a:uFillTx/>
              <a:latin typeface="Calibri" panose="020F0502020204030204"/>
              <a:ea typeface="Aptos" panose="020B0004020202020204" pitchFamily="34" charset="0"/>
              <a:cs typeface="Aptos" panose="020B0004020202020204" pitchFamily="34" charset="0"/>
            </a:endParaRPr>
          </a:p>
        </p:txBody>
      </p:sp>
      <p:sp>
        <p:nvSpPr>
          <p:cNvPr id="7" name="TextBox 6">
            <a:extLst>
              <a:ext uri="{FF2B5EF4-FFF2-40B4-BE49-F238E27FC236}">
                <a16:creationId xmlns:a16="http://schemas.microsoft.com/office/drawing/2014/main" id="{737619D6-3295-DC87-89A3-8008C3870970}"/>
              </a:ext>
            </a:extLst>
          </p:cNvPr>
          <p:cNvSpPr txBox="1"/>
          <p:nvPr/>
        </p:nvSpPr>
        <p:spPr>
          <a:xfrm>
            <a:off x="8350898" y="553378"/>
            <a:ext cx="3841102" cy="461665"/>
          </a:xfrm>
          <a:prstGeom prst="rect">
            <a:avLst/>
          </a:prstGeom>
          <a:solidFill>
            <a:srgbClr val="FFFF00"/>
          </a:solidFill>
          <a:ln>
            <a:solidFill>
              <a:srgbClr val="0070C0"/>
            </a:solidFill>
          </a:ln>
        </p:spPr>
        <p:txBody>
          <a:bodyPr wrap="square">
            <a:spAutoFit/>
          </a:bodyPr>
          <a:lstStyle>
            <a:defPPr>
              <a:defRPr lang="en-US"/>
            </a:defPPr>
            <a:lvl1pPr>
              <a:defRPr sz="1200" b="1">
                <a:effectLst/>
                <a:latin typeface="Aptos" panose="020B0004020202020204" pitchFamily="34" charset="0"/>
                <a:ea typeface="Aptos" panose="020B0004020202020204" pitchFamily="34" charset="0"/>
                <a:cs typeface="Aptos" panose="020B0004020202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rPr>
              <a:t>End item business rule </a:t>
            </a:r>
            <a:r>
              <a:rPr kumimoji="0" lang="en-US" sz="1200" b="0" i="0" u="none" strike="noStrike" kern="1200" cap="none" spc="0" normalizeH="0" baseline="0" noProof="0" dirty="0">
                <a:ln>
                  <a:noFill/>
                </a:ln>
                <a:solidFill>
                  <a:prstClr val="black"/>
                </a:solidFill>
                <a:effectLst/>
                <a:uLnTx/>
                <a:uFillTx/>
                <a:latin typeface="Calibri" panose="020F0502020204030204"/>
              </a:rPr>
              <a:t>– In QA environment, the DCN with Volvo part has checked for an end item associated with it.</a:t>
            </a:r>
          </a:p>
        </p:txBody>
      </p:sp>
    </p:spTree>
    <p:extLst>
      <p:ext uri="{BB962C8B-B14F-4D97-AF65-F5344CB8AC3E}">
        <p14:creationId xmlns:p14="http://schemas.microsoft.com/office/powerpoint/2010/main" val="2696321235"/>
      </p:ext>
    </p:extLst>
  </p:cSld>
  <p:clrMapOvr>
    <a:masterClrMapping/>
  </p:clrMapOvr>
</p:sld>
</file>

<file path=ppt/theme/theme1.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2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otalTime>7</TotalTime>
  <Words>334</Words>
  <Application>Microsoft Office PowerPoint</Application>
  <PresentationFormat>Widescreen</PresentationFormat>
  <Paragraphs>20</Paragraphs>
  <Slides>6</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vt:i4>
      </vt:variant>
    </vt:vector>
  </HeadingPairs>
  <TitlesOfParts>
    <vt:vector size="15" baseType="lpstr">
      <vt:lpstr>Arial</vt:lpstr>
      <vt:lpstr>Calibri</vt:lpstr>
      <vt:lpstr>helvetica</vt:lpstr>
      <vt:lpstr>Lato</vt:lpstr>
      <vt:lpstr>Volvo Broad Pro</vt:lpstr>
      <vt:lpstr>Volvo Novum</vt:lpstr>
      <vt:lpstr>Wingdings 3</vt:lpstr>
      <vt:lpstr>1_Facet</vt:lpstr>
      <vt:lpstr>2_Facet</vt:lpstr>
      <vt:lpstr>Agenish’ s Request DCN issues Distribution targets are triggered for all plant views End item business rule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Keshavamurthy Hg (Consultant)</dc:creator>
  <cp:lastModifiedBy>Keshavamurthy Hg (Consultant)</cp:lastModifiedBy>
  <cp:revision>1</cp:revision>
  <dcterms:created xsi:type="dcterms:W3CDTF">2024-12-20T20:16:19Z</dcterms:created>
  <dcterms:modified xsi:type="dcterms:W3CDTF">2024-12-20T20:39:10Z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540963-e559-4020-8a90-fe8a502c2801_Enabled">
    <vt:lpwstr>true</vt:lpwstr>
  </property>
  <property fmtid="{D5CDD505-2E9C-101B-9397-08002B2CF9AE}" pid="3" name="MSIP_Label_19540963-e559-4020-8a90-fe8a502c2801_SetDate">
    <vt:lpwstr>2024-12-20T20:16:31Z</vt:lpwstr>
  </property>
  <property fmtid="{D5CDD505-2E9C-101B-9397-08002B2CF9AE}" pid="4" name="MSIP_Label_19540963-e559-4020-8a90-fe8a502c2801_Method">
    <vt:lpwstr>Standard</vt:lpwstr>
  </property>
  <property fmtid="{D5CDD505-2E9C-101B-9397-08002B2CF9AE}" pid="5" name="MSIP_Label_19540963-e559-4020-8a90-fe8a502c2801_Name">
    <vt:lpwstr>19540963-e559-4020-8a90-fe8a502c2801</vt:lpwstr>
  </property>
  <property fmtid="{D5CDD505-2E9C-101B-9397-08002B2CF9AE}" pid="6" name="MSIP_Label_19540963-e559-4020-8a90-fe8a502c2801_SiteId">
    <vt:lpwstr>f25493ae-1c98-41d7-8a33-0be75f5fe603</vt:lpwstr>
  </property>
  <property fmtid="{D5CDD505-2E9C-101B-9397-08002B2CF9AE}" pid="7" name="MSIP_Label_19540963-e559-4020-8a90-fe8a502c2801_ActionId">
    <vt:lpwstr>1cb7036c-e56c-4711-acd6-abd97f22ed26</vt:lpwstr>
  </property>
  <property fmtid="{D5CDD505-2E9C-101B-9397-08002B2CF9AE}" pid="8" name="MSIP_Label_19540963-e559-4020-8a90-fe8a502c2801_ContentBits">
    <vt:lpwstr>0</vt:lpwstr>
  </property>
</Properties>
</file>